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608" autoAdjust="0"/>
  </p:normalViewPr>
  <p:slideViewPr>
    <p:cSldViewPr snapToGrid="0">
      <p:cViewPr>
        <p:scale>
          <a:sx n="33" d="100"/>
          <a:sy n="33" d="100"/>
        </p:scale>
        <p:origin x="13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98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morning/afternoon. We are Joshua Aryampa and </a:t>
            </a:r>
            <a:r>
              <a:rPr dirty="0" err="1"/>
              <a:t>Swahiba</a:t>
            </a:r>
            <a:r>
              <a:rPr dirty="0"/>
              <a:t> </a:t>
            </a:r>
            <a:r>
              <a:rPr dirty="0" err="1"/>
              <a:t>Nabisere</a:t>
            </a:r>
            <a:r>
              <a:rPr dirty="0"/>
              <a:t>, and this is our progress report on the Incident Reporting System (IRS).</a:t>
            </a:r>
          </a:p>
          <a:p>
            <a:endParaRPr dirty="0"/>
          </a:p>
          <a:p>
            <a:r>
              <a:rPr dirty="0"/>
              <a:t>In the next few minutes we will walk through why this system was needed, what we built, the main challenges we hit, what is working today, and what we need to do before it can go live plant-wide.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IRS is a web-based incident reporting tool for Kiira Motors — from first report through verification and final approval.</a:t>
            </a:r>
          </a:p>
          <a:p>
            <a:endParaRPr/>
          </a:p>
          <a:p>
            <a:r>
              <a:t>We chose Django for a maintainable backend and Keycloak so every employee signs in with the same company identity they already use. The real goal is not just digitizing a form: it is one plant-wide system with a clear audit trail and accountable sign-offs at each step.</a:t>
            </a:r>
          </a:p>
          <a:p>
            <a:endParaRPr/>
          </a:p>
          <a:p>
            <a:r>
              <a:t>This slide sets the roadmap for the rest of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manual or fragmented reporting makes incidents hard to track and easy to lose between people and departments.</a:t>
            </a:r>
          </a:p>
          <a:p>
            <a:endParaRPr/>
          </a:p>
          <a:p>
            <a:r>
              <a:t>Supervisors struggle to see what is still open, which submissions came in late, and where the workflow is stuck. When a case closes, there is often no single, consistent record with signatures and history — that weakens follow-up and accountability.</a:t>
            </a:r>
          </a:p>
          <a:p>
            <a:endParaRPr/>
          </a:p>
          <a:p>
            <a:r>
              <a:t>This is the gap IRS is meant to close.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is a browser-based app — usable on desktop or mobile without installing anything.</a:t>
            </a:r>
          </a:p>
          <a:p>
            <a:endParaRPr/>
          </a:p>
          <a:p>
            <a:r>
              <a:t>Employees log in through Keycloak; roles sync on sign-in. The reporter enters the scene location and chooses who verifies; the verifier then chooses the approver. That keeps responsibility explicit instead of hidden in fixed rules.</a:t>
            </a:r>
          </a:p>
          <a:p>
            <a:endParaRPr/>
          </a:p>
          <a:p>
            <a:r>
              <a:t>The workflow is Draft → Pending verification → Pending approval → Closed. The dashboard, queue, notifications, CSV export, and branded PDF give users one place to work and a proper closed report with signatories.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of our hardest work was integration, not layout. Keycloak needed the correct realm, client, redirect URI, and a service account so we could search employees when picking verifiers and approvers.</a:t>
            </a:r>
          </a:p>
          <a:p>
            <a:endParaRPr/>
          </a:p>
          <a:p>
            <a:r>
              <a:t>We also moved away from automatic routing to flexible search — a better fit for plant-wide reporting. JWT login failed until server and client clocks were aligned; that is a common SSO lesson, not a one-off bug.</a:t>
            </a:r>
          </a:p>
          <a:p>
            <a:endParaRPr/>
          </a:p>
          <a:p>
            <a:r>
              <a:t>Signature hosting is still being finalized with IT, which affects how signature images appear on closed reports.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now have a working end-to-end flow tested locally with real Keycloak login — not a mock-up.</a:t>
            </a:r>
          </a:p>
          <a:p>
            <a:endParaRPr/>
          </a:p>
          <a:p>
            <a:r>
              <a:t>Key deliverables include free-text location, pagination, employee search for verifier and approver, an updated signatories section, role-based dashboard visibility, and PDF export with KMC branding. We also prepared the SRS and SDD so the work is documented for handover.</a:t>
            </a:r>
          </a:p>
          <a:p>
            <a:endParaRPr/>
          </a:p>
          <a:p>
            <a:r>
              <a:t>If helpful, we can briefly demo the dashboard or a closed PDF after the slides.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Near term, we are polishing the UI so the system feels ready for daily use.</a:t>
            </a:r>
          </a:p>
          <a:p>
            <a:endParaRPr/>
          </a:p>
          <a:p>
            <a:r>
              <a:t>Before production we need IT to configure signature storage (SIGNATURE_BASE_URL), deploy on PostgreSQL with HTTPS, and run user acceptance testing with supervisors and representative plant users. We will prepare a short user guide and hand over to Information Systems for support.</a:t>
            </a:r>
          </a:p>
          <a:p>
            <a:endParaRPr/>
          </a:p>
          <a:p>
            <a:r>
              <a:t>After launch, we will gather feedback and prioritize analytics improvements for Admin and CEO roles. We welcome your guidance on priorities and are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371600" y="3188880"/>
            <a:ext cx="15544440" cy="549000"/>
          </a:xfrm>
          <a:prstGeom prst="rect">
            <a:avLst/>
          </a:prstGeom>
          <a:noFill/>
          <a:ln w="0">
            <a:noFill/>
          </a:ln>
        </p:spPr>
        <p:txBody>
          <a:bodyPr lIns="0" tIns="0" rIns="0" bIns="0" anchor="t">
            <a:spAutoFit/>
          </a:bodyPr>
          <a:lstStyle>
            <a:lvl1pPr indent="0" algn="l">
              <a:buNone/>
              <a:defRPr lang="en-US" sz="3600" b="0" u="none" strike="noStrike">
                <a:solidFill>
                  <a:srgbClr val="000000"/>
                </a:solidFill>
                <a:effectLst/>
                <a:uFillTx/>
                <a:latin typeface="Calibri"/>
              </a:defRPr>
            </a:lvl1pPr>
          </a:lstStyle>
          <a:p>
            <a:pPr indent="0" algn="l">
              <a:buNone/>
            </a:pPr>
            <a:r>
              <a:rPr lang="en-US" sz="3600" b="0" u="none" strike="noStrike">
                <a:solidFill>
                  <a:srgbClr val="000000"/>
                </a:solidFill>
                <a:effectLst/>
                <a:uFillTx/>
                <a:latin typeface="Calibri"/>
              </a:rPr>
              <a:t>Click to edit the title text format</a:t>
            </a:r>
          </a:p>
        </p:txBody>
      </p:sp>
      <p:sp>
        <p:nvSpPr>
          <p:cNvPr id="3" name="PlaceHolder 2"/>
          <p:cNvSpPr>
            <a:spLocks noGrp="1"/>
          </p:cNvSpPr>
          <p:nvPr>
            <p:ph type="ftr" idx="1"/>
          </p:nvPr>
        </p:nvSpPr>
        <p:spPr>
          <a:xfrm>
            <a:off x="6217920" y="9567000"/>
            <a:ext cx="5851800" cy="5140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 name="PlaceHolder 3"/>
          <p:cNvSpPr>
            <a:spLocks noGrp="1"/>
          </p:cNvSpPr>
          <p:nvPr>
            <p:ph type="dt" idx="2"/>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US" sz="1400" b="0" u="none" strike="noStrike">
                <a:solidFill>
                  <a:schemeClr val="dk1">
                    <a:tint val="75000"/>
                  </a:schemeClr>
                </a:solidFill>
                <a:effectLst/>
                <a:uFillTx/>
                <a:latin typeface="Times New Roman"/>
              </a:defRPr>
            </a:lvl1pPr>
          </a:lstStyle>
          <a:p>
            <a:pPr indent="0" algn="r">
              <a:lnSpc>
                <a:spcPct val="100000"/>
              </a:lnSpc>
              <a:buNone/>
            </a:pPr>
            <a:fld id="{6106DFFD-19F3-417E-ABEA-1C2B2366BAD7}" type="slidenum">
              <a:rPr lang="en-US" sz="1400" b="0" u="none" strike="noStrike">
                <a:solidFill>
                  <a:schemeClr val="dk1">
                    <a:tint val="75000"/>
                  </a:schemeClr>
                </a:solidFill>
                <a:effectLst/>
                <a:uFillTx/>
                <a:latin typeface="Times New Roman"/>
              </a:rPr>
              <a:t>‹#›</a:t>
            </a:fld>
            <a:endParaRPr lang="en-US" sz="14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1015920" y="789840"/>
            <a:ext cx="14618520" cy="573840"/>
          </a:xfrm>
          <a:prstGeom prst="rect">
            <a:avLst/>
          </a:prstGeom>
          <a:noFill/>
          <a:ln w="0">
            <a:noFill/>
          </a:ln>
        </p:spPr>
        <p:txBody>
          <a:bodyPr lIns="0" tIns="0" rIns="0" bIns="0" anchor="t">
            <a:noAutofit/>
          </a:bodyPr>
          <a:lstStyle>
            <a:lvl1pPr indent="0" algn="l">
              <a:buNone/>
              <a:defRPr lang="en-US" sz="3600" b="0" u="none" strike="noStrike">
                <a:solidFill>
                  <a:srgbClr val="000000"/>
                </a:solidFill>
                <a:effectLst/>
                <a:uFillTx/>
                <a:latin typeface="Calibri"/>
              </a:defRPr>
            </a:lvl1pPr>
          </a:lstStyle>
          <a:p>
            <a:pPr indent="0" algn="l">
              <a:buNone/>
            </a:pPr>
            <a:r>
              <a:rPr lang="en-US" sz="3600" b="0" u="none" strike="noStrike">
                <a:solidFill>
                  <a:srgbClr val="000000"/>
                </a:solidFill>
                <a:effectLst/>
                <a:uFillTx/>
                <a:latin typeface="Calibri"/>
              </a:rPr>
              <a:t>Click to edit the title text format</a:t>
            </a:r>
          </a:p>
        </p:txBody>
      </p:sp>
      <p:sp>
        <p:nvSpPr>
          <p:cNvPr id="7" name="PlaceHolder 2"/>
          <p:cNvSpPr>
            <a:spLocks noGrp="1"/>
          </p:cNvSpPr>
          <p:nvPr>
            <p:ph type="body"/>
          </p:nvPr>
        </p:nvSpPr>
        <p:spPr>
          <a:xfrm>
            <a:off x="7928280" y="2368440"/>
            <a:ext cx="9338040" cy="658008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27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27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27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27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27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27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27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27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Seventh Outline Level</a:t>
            </a:r>
          </a:p>
        </p:txBody>
      </p:sp>
      <p:sp>
        <p:nvSpPr>
          <p:cNvPr id="8" name="PlaceHolder 3"/>
          <p:cNvSpPr>
            <a:spLocks noGrp="1"/>
          </p:cNvSpPr>
          <p:nvPr>
            <p:ph type="ftr" idx="4"/>
          </p:nvPr>
        </p:nvSpPr>
        <p:spPr>
          <a:xfrm>
            <a:off x="6217920" y="9567000"/>
            <a:ext cx="5851800" cy="5140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9" name="PlaceHolder 4"/>
          <p:cNvSpPr>
            <a:spLocks noGrp="1"/>
          </p:cNvSpPr>
          <p:nvPr>
            <p:ph type="dt" idx="5"/>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US" sz="1400" b="0" u="none" strike="noStrike">
                <a:solidFill>
                  <a:schemeClr val="dk1">
                    <a:tint val="75000"/>
                  </a:schemeClr>
                </a:solidFill>
                <a:effectLst/>
                <a:uFillTx/>
                <a:latin typeface="Times New Roman"/>
              </a:defRPr>
            </a:lvl1pPr>
          </a:lstStyle>
          <a:p>
            <a:pPr indent="0" algn="r">
              <a:lnSpc>
                <a:spcPct val="100000"/>
              </a:lnSpc>
              <a:buNone/>
            </a:pPr>
            <a:fld id="{A383C7FD-01E2-43F0-9AC6-09026FC6D2DF}" type="slidenum">
              <a:rPr lang="en-US" sz="1400" b="0" u="none" strike="noStrike">
                <a:solidFill>
                  <a:schemeClr val="dk1">
                    <a:tint val="75000"/>
                  </a:schemeClr>
                </a:solidFill>
                <a:effectLst/>
                <a:uFillTx/>
                <a:latin typeface="Times New Roman"/>
              </a:rPr>
              <a:t>‹#›</a:t>
            </a:fld>
            <a:endParaRPr lang="en-US" sz="14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1015920" y="789840"/>
            <a:ext cx="14618520" cy="573840"/>
          </a:xfrm>
          <a:prstGeom prst="rect">
            <a:avLst/>
          </a:prstGeom>
          <a:noFill/>
          <a:ln w="0">
            <a:noFill/>
          </a:ln>
        </p:spPr>
        <p:txBody>
          <a:bodyPr lIns="0" tIns="0" rIns="0" bIns="0" anchor="t">
            <a:noAutofit/>
          </a:bodyPr>
          <a:lstStyle>
            <a:lvl1pPr indent="0" algn="l">
              <a:buNone/>
              <a:defRPr lang="en-US" sz="3600" b="0" u="none" strike="noStrike">
                <a:solidFill>
                  <a:srgbClr val="000000"/>
                </a:solidFill>
                <a:effectLst/>
                <a:uFillTx/>
                <a:latin typeface="Calibri"/>
              </a:defRPr>
            </a:lvl1pPr>
          </a:lstStyle>
          <a:p>
            <a:pPr indent="0" algn="l">
              <a:buNone/>
            </a:pPr>
            <a:r>
              <a:rPr lang="en-US" sz="3600" b="0" u="none" strike="noStrike">
                <a:solidFill>
                  <a:srgbClr val="000000"/>
                </a:solidFill>
                <a:effectLst/>
                <a:uFillTx/>
                <a:latin typeface="Calibri"/>
              </a:rPr>
              <a:t>Click to edit the title text format</a:t>
            </a:r>
          </a:p>
        </p:txBody>
      </p:sp>
      <p:sp>
        <p:nvSpPr>
          <p:cNvPr id="12" name="PlaceHolder 2"/>
          <p:cNvSpPr>
            <a:spLocks noGrp="1"/>
          </p:cNvSpPr>
          <p:nvPr>
            <p:ph type="body"/>
          </p:nvPr>
        </p:nvSpPr>
        <p:spPr>
          <a:xfrm>
            <a:off x="914400" y="2365920"/>
            <a:ext cx="7954920" cy="331524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US" sz="27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27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27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27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27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27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27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27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Seventh Outline Level</a:t>
            </a:r>
          </a:p>
        </p:txBody>
      </p:sp>
      <p:sp>
        <p:nvSpPr>
          <p:cNvPr id="13" name="PlaceHolder 3"/>
          <p:cNvSpPr>
            <a:spLocks noGrp="1"/>
          </p:cNvSpPr>
          <p:nvPr>
            <p:ph type="body"/>
          </p:nvPr>
        </p:nvSpPr>
        <p:spPr>
          <a:xfrm>
            <a:off x="9418320" y="2365920"/>
            <a:ext cx="7954920" cy="3315240"/>
          </a:xfrm>
          <a:prstGeom prst="rect">
            <a:avLst/>
          </a:prstGeom>
          <a:noFill/>
          <a:ln w="0">
            <a:noFill/>
          </a:ln>
        </p:spPr>
        <p:txBody>
          <a:bodyPr lIns="0" tIns="0" rIns="0" bIns="0" anchor="t">
            <a:spAutoFit/>
          </a:bodyPr>
          <a:lstStyle>
            <a:lvl1pPr algn="l">
              <a:spcBef>
                <a:spcPts val="1417"/>
              </a:spcBef>
              <a:buClr>
                <a:srgbClr val="000000"/>
              </a:buClr>
              <a:buSzPct val="45000"/>
              <a:buFont typeface="Wingdings" charset="2"/>
              <a:buChar char=""/>
              <a:defRPr lang="en-US" sz="27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27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27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27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2700" b="0" u="none" strike="noStrike">
                <a:solidFill>
                  <a:srgbClr val="000000"/>
                </a:solidFill>
                <a:effectLst/>
                <a:uFillTx/>
                <a:latin typeface="Calibri"/>
              </a:defRPr>
            </a:lvl7pPr>
          </a:lstStyle>
          <a:p>
            <a:pPr indent="-324000" algn="l">
              <a:spcBef>
                <a:spcPts val="1417"/>
              </a:spcBef>
              <a:buClr>
                <a:srgbClr val="000000"/>
              </a:buClr>
              <a:buSzPct val="45000"/>
              <a:buFont typeface="Wingdings" charset="2"/>
              <a:buChar char=""/>
            </a:pPr>
            <a:r>
              <a:rPr lang="en-US" sz="2700" b="0" u="none" strike="noStrike">
                <a:solidFill>
                  <a:srgbClr val="000000"/>
                </a:solidFill>
                <a:effectLst/>
                <a:uFillTx/>
                <a:latin typeface="Calibri"/>
              </a:rPr>
              <a:t>Click to edit the outline text format</a:t>
            </a:r>
          </a:p>
          <a:p>
            <a:pPr marL="457200" lvl="1" indent="-324000" algn="l">
              <a:spcBef>
                <a:spcPts val="1134"/>
              </a:spcBef>
              <a:buClr>
                <a:srgbClr val="000000"/>
              </a:buClr>
              <a:buSzPct val="75000"/>
              <a:buFont typeface="Symbol" charset="2"/>
              <a:buChar char=""/>
            </a:pPr>
            <a:r>
              <a:rPr lang="en-US" sz="2700" b="0" u="none" strike="noStrike">
                <a:solidFill>
                  <a:srgbClr val="000000"/>
                </a:solidFill>
                <a:effectLst/>
                <a:uFillTx/>
                <a:latin typeface="Calibri"/>
              </a:rPr>
              <a:t>Second Outline Level</a:t>
            </a:r>
          </a:p>
          <a:p>
            <a:pPr marL="914400" lvl="2" indent="-288000" algn="l">
              <a:spcBef>
                <a:spcPts val="850"/>
              </a:spcBef>
              <a:buClr>
                <a:srgbClr val="000000"/>
              </a:buClr>
              <a:buSzPct val="45000"/>
              <a:buFont typeface="Wingdings" charset="2"/>
              <a:buChar char=""/>
            </a:pPr>
            <a:r>
              <a:rPr lang="en-US" sz="2700" b="0" u="none" strike="noStrike">
                <a:solidFill>
                  <a:srgbClr val="000000"/>
                </a:solidFill>
                <a:effectLst/>
                <a:uFillTx/>
                <a:latin typeface="Calibri"/>
              </a:rPr>
              <a:t>Third Outline Level</a:t>
            </a:r>
          </a:p>
          <a:p>
            <a:pPr marL="1371600" lvl="3" indent="-216000" algn="l">
              <a:spcBef>
                <a:spcPts val="567"/>
              </a:spcBef>
              <a:buClr>
                <a:srgbClr val="000000"/>
              </a:buClr>
              <a:buSzPct val="75000"/>
              <a:buFont typeface="Symbol" charset="2"/>
              <a:buChar char=""/>
            </a:pPr>
            <a:r>
              <a:rPr lang="en-US" sz="2700" b="0" u="none" strike="noStrike">
                <a:solidFill>
                  <a:srgbClr val="000000"/>
                </a:solidFill>
                <a:effectLst/>
                <a:uFillTx/>
                <a:latin typeface="Calibri"/>
              </a:rPr>
              <a:t>Fourth Outline Level</a:t>
            </a:r>
          </a:p>
          <a:p>
            <a:pPr marL="1828800" lvl="4"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Fifth Outline Level</a:t>
            </a:r>
          </a:p>
          <a:p>
            <a:pPr marL="2286000" lvl="5"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Sixth Outline Level</a:t>
            </a:r>
          </a:p>
          <a:p>
            <a:pPr marL="2743200" lvl="6" indent="-216000" algn="l">
              <a:spcBef>
                <a:spcPts val="283"/>
              </a:spcBef>
              <a:buClr>
                <a:srgbClr val="000000"/>
              </a:buClr>
              <a:buSzPct val="45000"/>
              <a:buFont typeface="Wingdings" charset="2"/>
              <a:buChar char=""/>
            </a:pPr>
            <a:r>
              <a:rPr lang="en-US" sz="2700" b="0" u="none" strike="noStrike">
                <a:solidFill>
                  <a:srgbClr val="000000"/>
                </a:solidFill>
                <a:effectLst/>
                <a:uFillTx/>
                <a:latin typeface="Calibri"/>
              </a:rPr>
              <a:t>Seventh Outline Level</a:t>
            </a:r>
          </a:p>
        </p:txBody>
      </p:sp>
      <p:sp>
        <p:nvSpPr>
          <p:cNvPr id="14" name="PlaceHolder 4"/>
          <p:cNvSpPr>
            <a:spLocks noGrp="1"/>
          </p:cNvSpPr>
          <p:nvPr>
            <p:ph type="ftr" idx="7"/>
          </p:nvPr>
        </p:nvSpPr>
        <p:spPr>
          <a:xfrm>
            <a:off x="6217920" y="9567000"/>
            <a:ext cx="5851800" cy="5140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dt" idx="8"/>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US" sz="1400" b="0" u="none" strike="noStrike">
                <a:solidFill>
                  <a:schemeClr val="dk1">
                    <a:tint val="75000"/>
                  </a:schemeClr>
                </a:solidFill>
                <a:effectLst/>
                <a:uFillTx/>
                <a:latin typeface="Times New Roman"/>
              </a:defRPr>
            </a:lvl1pPr>
          </a:lstStyle>
          <a:p>
            <a:pPr indent="0" algn="r">
              <a:lnSpc>
                <a:spcPct val="100000"/>
              </a:lnSpc>
              <a:buNone/>
            </a:pPr>
            <a:fld id="{29ECAA3F-4FF4-4A58-BEF6-50621E214978}" type="slidenum">
              <a:rPr lang="en-US" sz="1400" b="0" u="none" strike="noStrike">
                <a:solidFill>
                  <a:schemeClr val="dk1">
                    <a:tint val="75000"/>
                  </a:schemeClr>
                </a:solidFill>
                <a:effectLst/>
                <a:uFillTx/>
                <a:latin typeface="Times New Roman"/>
              </a:rPr>
              <a:t>‹#›</a:t>
            </a:fld>
            <a:endParaRPr lang="en-US" sz="1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7" name="bg object 16"/>
          <p:cNvSpPr/>
          <p:nvPr/>
        </p:nvSpPr>
        <p:spPr>
          <a:xfrm>
            <a:off x="0" y="519840"/>
            <a:ext cx="11807640" cy="1165680"/>
          </a:xfrm>
          <a:custGeom>
            <a:avLst/>
            <a:gdLst>
              <a:gd name="textAreaLeft" fmla="*/ 0 w 11807640"/>
              <a:gd name="textAreaRight" fmla="*/ 11808000 w 11807640"/>
              <a:gd name="textAreaTop" fmla="*/ 0 h 1165680"/>
              <a:gd name="textAreaBottom" fmla="*/ 1166040 h 1165680"/>
            </a:gdLst>
            <a:ahLst/>
            <a:cxnLst/>
            <a:rect l="textAreaLeft" t="textAreaTop" r="textAreaRight" b="textAreaBottom"/>
            <a:pathLst>
              <a:path w="11807825" h="1165860">
                <a:moveTo>
                  <a:pt x="11807787" y="582434"/>
                </a:moveTo>
                <a:lnTo>
                  <a:pt x="11225352" y="0"/>
                </a:lnTo>
                <a:lnTo>
                  <a:pt x="9362161" y="0"/>
                </a:lnTo>
                <a:lnTo>
                  <a:pt x="2664180" y="0"/>
                </a:lnTo>
                <a:lnTo>
                  <a:pt x="0" y="0"/>
                </a:lnTo>
                <a:lnTo>
                  <a:pt x="0" y="1165720"/>
                </a:lnTo>
                <a:lnTo>
                  <a:pt x="9362161" y="1165720"/>
                </a:lnTo>
                <a:lnTo>
                  <a:pt x="11225403" y="1165669"/>
                </a:lnTo>
                <a:lnTo>
                  <a:pt x="11807787" y="583247"/>
                </a:lnTo>
                <a:lnTo>
                  <a:pt x="11807787" y="582434"/>
                </a:lnTo>
                <a:close/>
              </a:path>
            </a:pathLst>
          </a:custGeom>
          <a:solidFill>
            <a:srgbClr val="DDDDDD"/>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sp>
        <p:nvSpPr>
          <p:cNvPr id="18" name="bg object 17"/>
          <p:cNvSpPr/>
          <p:nvPr/>
        </p:nvSpPr>
        <p:spPr>
          <a:xfrm>
            <a:off x="0" y="519840"/>
            <a:ext cx="936360" cy="1165680"/>
          </a:xfrm>
          <a:custGeom>
            <a:avLst/>
            <a:gdLst>
              <a:gd name="textAreaLeft" fmla="*/ 0 w 936360"/>
              <a:gd name="textAreaRight" fmla="*/ 936720 w 936360"/>
              <a:gd name="textAreaTop" fmla="*/ 0 h 1165680"/>
              <a:gd name="textAreaBottom" fmla="*/ 1166040 h 1165680"/>
            </a:gdLst>
            <a:ahLst/>
            <a:cxnLst/>
            <a:rect l="textAreaLeft" t="textAreaTop" r="textAreaRight" b="textAreaBottom"/>
            <a:pathLst>
              <a:path w="936625" h="1165860">
                <a:moveTo>
                  <a:pt x="353472" y="1165764"/>
                </a:moveTo>
                <a:lnTo>
                  <a:pt x="0" y="1165764"/>
                </a:lnTo>
                <a:lnTo>
                  <a:pt x="0" y="0"/>
                </a:lnTo>
                <a:lnTo>
                  <a:pt x="353472" y="0"/>
                </a:lnTo>
                <a:lnTo>
                  <a:pt x="936307" y="582834"/>
                </a:lnTo>
                <a:lnTo>
                  <a:pt x="353472" y="1165764"/>
                </a:lnTo>
                <a:close/>
              </a:path>
            </a:pathLst>
          </a:custGeom>
          <a:solidFill>
            <a:srgbClr val="EC202D"/>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sp>
        <p:nvSpPr>
          <p:cNvPr id="19" name="PlaceHolder 1"/>
          <p:cNvSpPr>
            <a:spLocks noGrp="1"/>
          </p:cNvSpPr>
          <p:nvPr>
            <p:ph type="title"/>
          </p:nvPr>
        </p:nvSpPr>
        <p:spPr>
          <a:xfrm>
            <a:off x="1015920" y="789840"/>
            <a:ext cx="14618520" cy="573840"/>
          </a:xfrm>
          <a:prstGeom prst="rect">
            <a:avLst/>
          </a:prstGeom>
          <a:noFill/>
          <a:ln w="0">
            <a:noFill/>
          </a:ln>
        </p:spPr>
        <p:txBody>
          <a:bodyPr lIns="0" tIns="0" rIns="0" bIns="0" anchor="t">
            <a:noAutofit/>
          </a:bodyPr>
          <a:lstStyle>
            <a:lvl1pPr indent="0" algn="l">
              <a:buNone/>
              <a:defRPr lang="en-US" sz="3600" b="0" u="none" strike="noStrike">
                <a:solidFill>
                  <a:srgbClr val="000000"/>
                </a:solidFill>
                <a:effectLst/>
                <a:uFillTx/>
                <a:latin typeface="Calibri"/>
              </a:defRPr>
            </a:lvl1pPr>
          </a:lstStyle>
          <a:p>
            <a:pPr indent="0" algn="l">
              <a:buNone/>
            </a:pPr>
            <a:r>
              <a:rPr lang="en-US" sz="3600" b="0" u="none" strike="noStrike">
                <a:solidFill>
                  <a:srgbClr val="000000"/>
                </a:solidFill>
                <a:effectLst/>
                <a:uFillTx/>
                <a:latin typeface="Calibri"/>
              </a:rPr>
              <a:t>Click to edit the title text format</a:t>
            </a:r>
          </a:p>
        </p:txBody>
      </p:sp>
      <p:sp>
        <p:nvSpPr>
          <p:cNvPr id="20" name="PlaceHolder 2"/>
          <p:cNvSpPr>
            <a:spLocks noGrp="1"/>
          </p:cNvSpPr>
          <p:nvPr>
            <p:ph type="ftr" idx="10"/>
          </p:nvPr>
        </p:nvSpPr>
        <p:spPr>
          <a:xfrm>
            <a:off x="6217920" y="9567000"/>
            <a:ext cx="5851800" cy="5140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1" name="PlaceHolder 3"/>
          <p:cNvSpPr>
            <a:spLocks noGrp="1"/>
          </p:cNvSpPr>
          <p:nvPr>
            <p:ph type="dt" idx="11"/>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2" name="PlaceHolder 4"/>
          <p:cNvSpPr>
            <a:spLocks noGrp="1"/>
          </p:cNvSpPr>
          <p:nvPr>
            <p:ph type="sldNum" idx="12"/>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US" sz="1400" b="0" u="none" strike="noStrike">
                <a:solidFill>
                  <a:schemeClr val="dk1">
                    <a:tint val="75000"/>
                  </a:schemeClr>
                </a:solidFill>
                <a:effectLst/>
                <a:uFillTx/>
                <a:latin typeface="Times New Roman"/>
              </a:defRPr>
            </a:lvl1pPr>
          </a:lstStyle>
          <a:p>
            <a:pPr indent="0" algn="r">
              <a:lnSpc>
                <a:spcPct val="100000"/>
              </a:lnSpc>
              <a:buNone/>
            </a:pPr>
            <a:fld id="{0005E9A3-30D9-455D-8D31-8C24A700840F}" type="slidenum">
              <a:rPr lang="en-US" sz="1400" b="0" u="none" strike="noStrike">
                <a:solidFill>
                  <a:schemeClr val="dk1">
                    <a:tint val="75000"/>
                  </a:schemeClr>
                </a:solidFill>
                <a:effectLst/>
                <a:uFillTx/>
                <a:latin typeface="Times New Roman"/>
              </a:rPr>
              <a:t>‹#›</a:t>
            </a:fld>
            <a:endParaRPr lang="en-US" sz="1400" b="0" u="none" strike="noStrike">
              <a:solidFill>
                <a:srgbClr val="000000"/>
              </a:solidFill>
              <a:effectLst/>
              <a:uFillTx/>
              <a:latin typeface="Times New Roman"/>
            </a:endParaRPr>
          </a:p>
        </p:txBody>
      </p:sp>
      <p:sp>
        <p:nvSpPr>
          <p:cNvPr id="23"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Calibri"/>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Calibri"/>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Calibri"/>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Calibri"/>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Calibri"/>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24" name="PlaceHolder 1"/>
          <p:cNvSpPr>
            <a:spLocks noGrp="1"/>
          </p:cNvSpPr>
          <p:nvPr>
            <p:ph type="ftr" idx="13"/>
          </p:nvPr>
        </p:nvSpPr>
        <p:spPr>
          <a:xfrm>
            <a:off x="6217920" y="9567000"/>
            <a:ext cx="5851800" cy="51408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2"/>
          <p:cNvSpPr>
            <a:spLocks noGrp="1"/>
          </p:cNvSpPr>
          <p:nvPr>
            <p:ph type="dt" idx="14"/>
          </p:nvPr>
        </p:nvSpPr>
        <p:spPr>
          <a:xfrm>
            <a:off x="914400" y="9567000"/>
            <a:ext cx="4205880" cy="514080"/>
          </a:xfrm>
          <a:prstGeom prst="rect">
            <a:avLst/>
          </a:prstGeom>
          <a:noFill/>
          <a:ln w="0">
            <a:noFill/>
          </a:ln>
        </p:spPr>
        <p:txBody>
          <a:bodyPr lIns="0" tIns="0" rIns="0" bIns="0" anchor="t">
            <a:noAutofit/>
          </a:bodyPr>
          <a:lstStyle>
            <a:lvl1pPr indent="0" algn="l">
              <a:lnSpc>
                <a:spcPct val="100000"/>
              </a:lnSpc>
              <a:buNone/>
              <a:defRPr lang="en-US" sz="1400" b="0" u="none" strike="noStrike">
                <a:solidFill>
                  <a:schemeClr val="dk1">
                    <a:tint val="75000"/>
                  </a:schemeClr>
                </a:solidFill>
                <a:effectLst/>
                <a:uFillTx/>
                <a:latin typeface="Times New Roman"/>
              </a:defRPr>
            </a:lvl1pPr>
          </a:lstStyle>
          <a:p>
            <a:pPr indent="0" algn="l">
              <a:lnSpc>
                <a:spcPct val="100000"/>
              </a:lnSpc>
              <a:buNone/>
            </a:pPr>
            <a:r>
              <a:rPr lang="en-US" sz="1400" b="0" u="none" strike="noStrike">
                <a:solidFill>
                  <a:schemeClr val="dk1">
                    <a:tint val="75000"/>
                  </a:schemeClr>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6" name="PlaceHolder 3"/>
          <p:cNvSpPr>
            <a:spLocks noGrp="1"/>
          </p:cNvSpPr>
          <p:nvPr>
            <p:ph type="sldNum" idx="15"/>
          </p:nvPr>
        </p:nvSpPr>
        <p:spPr>
          <a:xfrm>
            <a:off x="13167360" y="9567000"/>
            <a:ext cx="4205880" cy="514080"/>
          </a:xfrm>
          <a:prstGeom prst="rect">
            <a:avLst/>
          </a:prstGeom>
          <a:noFill/>
          <a:ln w="0">
            <a:noFill/>
          </a:ln>
        </p:spPr>
        <p:txBody>
          <a:bodyPr lIns="0" tIns="0" rIns="0" bIns="0" anchor="t">
            <a:noAutofit/>
          </a:bodyPr>
          <a:lstStyle>
            <a:lvl1pPr indent="0" algn="r">
              <a:lnSpc>
                <a:spcPct val="100000"/>
              </a:lnSpc>
              <a:buNone/>
              <a:defRPr lang="en-US" sz="1400" b="0" u="none" strike="noStrike">
                <a:solidFill>
                  <a:schemeClr val="dk1">
                    <a:tint val="75000"/>
                  </a:schemeClr>
                </a:solidFill>
                <a:effectLst/>
                <a:uFillTx/>
                <a:latin typeface="Times New Roman"/>
              </a:defRPr>
            </a:lvl1pPr>
          </a:lstStyle>
          <a:p>
            <a:pPr indent="0" algn="r">
              <a:lnSpc>
                <a:spcPct val="100000"/>
              </a:lnSpc>
              <a:buNone/>
            </a:pPr>
            <a:fld id="{C195E063-2A6E-4D90-9466-38299600C472}" type="slidenum">
              <a:rPr lang="en-US" sz="1400" b="0" u="none" strike="noStrike">
                <a:solidFill>
                  <a:schemeClr val="dk1">
                    <a:tint val="75000"/>
                  </a:schemeClr>
                </a:solidFill>
                <a:effectLst/>
                <a:uFillTx/>
                <a:latin typeface="Times New Roman"/>
              </a:rPr>
              <a:t>‹#›</a:t>
            </a:fld>
            <a:endParaRPr lang="en-US" sz="14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1"/>
          <p:cNvPicPr/>
          <p:nvPr/>
        </p:nvPicPr>
        <p:blipFill>
          <a:blip r:embed="rId3"/>
          <a:srcRect l="40050" t="-1260" r="9917" b="1260"/>
          <a:stretch/>
        </p:blipFill>
        <p:spPr>
          <a:xfrm>
            <a:off x="9768960" y="-14760"/>
            <a:ext cx="8600040" cy="10286640"/>
          </a:xfrm>
          <a:prstGeom prst="rect">
            <a:avLst/>
          </a:prstGeom>
          <a:noFill/>
          <a:ln w="0">
            <a:noFill/>
          </a:ln>
        </p:spPr>
      </p:pic>
      <p:sp>
        <p:nvSpPr>
          <p:cNvPr id="28" name="object 2"/>
          <p:cNvSpPr/>
          <p:nvPr/>
        </p:nvSpPr>
        <p:spPr>
          <a:xfrm>
            <a:off x="0" y="1476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18287998" y="10286999"/>
                </a:moveTo>
                <a:lnTo>
                  <a:pt x="0" y="10286999"/>
                </a:lnTo>
                <a:lnTo>
                  <a:pt x="0" y="0"/>
                </a:lnTo>
                <a:lnTo>
                  <a:pt x="18287998" y="0"/>
                </a:lnTo>
                <a:lnTo>
                  <a:pt x="18287998" y="10286999"/>
                </a:lnTo>
                <a:close/>
              </a:path>
            </a:pathLst>
          </a:custGeom>
          <a:solidFill>
            <a:srgbClr val="DDDDDD"/>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000000"/>
              </a:solidFill>
              <a:effectLst/>
              <a:uFillTx/>
              <a:latin typeface="Arial"/>
            </a:endParaRPr>
          </a:p>
        </p:txBody>
      </p:sp>
      <p:pic>
        <p:nvPicPr>
          <p:cNvPr id="29" name="object 4"/>
          <p:cNvPicPr/>
          <p:nvPr/>
        </p:nvPicPr>
        <p:blipFill>
          <a:blip r:embed="rId4"/>
          <a:stretch/>
        </p:blipFill>
        <p:spPr>
          <a:xfrm>
            <a:off x="10145160" y="21960"/>
            <a:ext cx="8142480" cy="10271880"/>
          </a:xfrm>
          <a:prstGeom prst="rect">
            <a:avLst/>
          </a:prstGeom>
          <a:noFill/>
          <a:ln w="0">
            <a:noFill/>
          </a:ln>
        </p:spPr>
      </p:pic>
      <p:sp>
        <p:nvSpPr>
          <p:cNvPr id="30" name="object 5"/>
          <p:cNvSpPr/>
          <p:nvPr/>
        </p:nvSpPr>
        <p:spPr>
          <a:xfrm>
            <a:off x="6623640" y="0"/>
            <a:ext cx="6289200" cy="10286640"/>
          </a:xfrm>
          <a:custGeom>
            <a:avLst/>
            <a:gdLst>
              <a:gd name="textAreaLeft" fmla="*/ 0 w 6289200"/>
              <a:gd name="textAreaRight" fmla="*/ 6289560 w 6289200"/>
              <a:gd name="textAreaTop" fmla="*/ 0 h 10286640"/>
              <a:gd name="textAreaBottom" fmla="*/ 10287000 h 10286640"/>
            </a:gdLst>
            <a:ahLst/>
            <a:cxnLst/>
            <a:rect l="textAreaLeft" t="textAreaTop" r="textAreaRight" b="textAreaBottom"/>
            <a:pathLst>
              <a:path w="6289675" h="10287000">
                <a:moveTo>
                  <a:pt x="4294632" y="10287000"/>
                </a:moveTo>
                <a:lnTo>
                  <a:pt x="3144621" y="9137002"/>
                </a:lnTo>
                <a:lnTo>
                  <a:pt x="3144621" y="10287000"/>
                </a:lnTo>
                <a:lnTo>
                  <a:pt x="4294632" y="10287000"/>
                </a:lnTo>
                <a:close/>
              </a:path>
              <a:path w="6289675" h="10287000">
                <a:moveTo>
                  <a:pt x="6289433" y="0"/>
                </a:moveTo>
                <a:lnTo>
                  <a:pt x="0" y="0"/>
                </a:lnTo>
                <a:lnTo>
                  <a:pt x="3144710" y="3144774"/>
                </a:lnTo>
                <a:lnTo>
                  <a:pt x="6289433" y="0"/>
                </a:lnTo>
                <a:close/>
              </a:path>
            </a:pathLst>
          </a:custGeom>
          <a:solidFill>
            <a:srgbClr val="EC202D"/>
          </a:solidFill>
          <a:ln w="0">
            <a:noFill/>
          </a:ln>
        </p:spPr>
        <p:style>
          <a:lnRef idx="0">
            <a:scrgbClr r="0" g="0" b="0"/>
          </a:lnRef>
          <a:fillRef idx="0">
            <a:scrgbClr r="0" g="0" b="0"/>
          </a:fillRef>
          <a:effectRef idx="0">
            <a:scrgbClr r="0" g="0" b="0"/>
          </a:effectRef>
          <a:fontRef idx="minor"/>
        </p:style>
        <p:txBody>
          <a:bodyPr lIns="0" tIns="0" rIns="0" bIns="0" anchor="t">
            <a:noAutofit/>
          </a:bodyPr>
          <a:lstStyle/>
          <a:p>
            <a:endParaRPr lang="en-US" sz="1800" b="0" u="none" strike="noStrike">
              <a:solidFill>
                <a:srgbClr val="FFFFFF"/>
              </a:solidFill>
              <a:effectLst/>
              <a:uFillTx/>
              <a:latin typeface="Arial"/>
            </a:endParaRPr>
          </a:p>
        </p:txBody>
      </p:sp>
      <p:pic>
        <p:nvPicPr>
          <p:cNvPr id="31" name="object 6"/>
          <p:cNvPicPr/>
          <p:nvPr/>
        </p:nvPicPr>
        <p:blipFill>
          <a:blip r:embed="rId5"/>
          <a:stretch/>
        </p:blipFill>
        <p:spPr>
          <a:xfrm>
            <a:off x="992520" y="1136160"/>
            <a:ext cx="5381280" cy="1076040"/>
          </a:xfrm>
          <a:prstGeom prst="rect">
            <a:avLst/>
          </a:prstGeom>
          <a:noFill/>
          <a:ln w="0">
            <a:noFill/>
          </a:ln>
        </p:spPr>
      </p:pic>
      <p:sp>
        <p:nvSpPr>
          <p:cNvPr id="32" name="object 7"/>
          <p:cNvSpPr/>
          <p:nvPr/>
        </p:nvSpPr>
        <p:spPr>
          <a:xfrm>
            <a:off x="304920" y="4869360"/>
            <a:ext cx="9524520" cy="4359401"/>
          </a:xfrm>
          <a:prstGeom prst="rect">
            <a:avLst/>
          </a:prstGeom>
          <a:noFill/>
          <a:ln w="0">
            <a:noFill/>
          </a:ln>
        </p:spPr>
        <p:style>
          <a:lnRef idx="0">
            <a:scrgbClr r="0" g="0" b="0"/>
          </a:lnRef>
          <a:fillRef idx="0">
            <a:scrgbClr r="0" g="0" b="0"/>
          </a:fillRef>
          <a:effectRef idx="0">
            <a:scrgbClr r="0" g="0" b="0"/>
          </a:effectRef>
          <a:fontRef idx="minor"/>
        </p:style>
        <p:txBody>
          <a:bodyPr lIns="0" tIns="50040" rIns="0" bIns="0" anchor="t">
            <a:spAutoFit/>
          </a:bodyPr>
          <a:lstStyle/>
          <a:p>
            <a:pPr algn="ctr">
              <a:lnSpc>
                <a:spcPct val="100000"/>
              </a:lnSpc>
            </a:pPr>
            <a:r>
              <a:rPr sz="3600" b="1" dirty="0">
                <a:latin typeface="Poppins"/>
              </a:rPr>
              <a:t>INCIDENT REPORTING SYSTEM (IRS)</a:t>
            </a:r>
            <a:endParaRPr lang="en-US" sz="3600" b="1" dirty="0">
              <a:latin typeface="Poppins"/>
            </a:endParaRPr>
          </a:p>
          <a:p>
            <a:pPr algn="ctr">
              <a:lnSpc>
                <a:spcPct val="100000"/>
              </a:lnSpc>
            </a:pPr>
            <a:endParaRPr lang="en-US" sz="3600" b="1" u="none" strike="noStrike" dirty="0">
              <a:solidFill>
                <a:srgbClr val="000000"/>
              </a:solidFill>
              <a:effectLst/>
              <a:uFillTx/>
              <a:latin typeface="Poppins"/>
            </a:endParaRPr>
          </a:p>
          <a:p>
            <a:pPr algn="ctr">
              <a:lnSpc>
                <a:spcPct val="100000"/>
              </a:lnSpc>
            </a:pPr>
            <a:r>
              <a:rPr lang="en-US" sz="3600" b="1" dirty="0">
                <a:solidFill>
                  <a:srgbClr val="000000"/>
                </a:solidFill>
                <a:latin typeface="Poppins"/>
              </a:rPr>
              <a:t>PROGRESS REPORT</a:t>
            </a:r>
            <a:endParaRPr lang="en-US" sz="3600" b="1" u="none" strike="noStrike" dirty="0">
              <a:solidFill>
                <a:srgbClr val="000000"/>
              </a:solidFill>
              <a:effectLst/>
              <a:uFillTx/>
              <a:latin typeface="Poppins"/>
            </a:endParaRPr>
          </a:p>
          <a:p>
            <a:pPr algn="ctr"/>
            <a:endParaRPr lang="en-US" sz="6000" dirty="0">
              <a:solidFill>
                <a:srgbClr val="000000"/>
              </a:solidFill>
              <a:latin typeface="Arial"/>
            </a:endParaRPr>
          </a:p>
          <a:p>
            <a:pPr algn="ctr"/>
            <a:r>
              <a:rPr lang="en-US" sz="2800" dirty="0">
                <a:latin typeface="Poppins"/>
              </a:rPr>
              <a:t>Joshua Aryampa</a:t>
            </a:r>
          </a:p>
          <a:p>
            <a:pPr algn="ctr"/>
            <a:endParaRPr lang="en-US" sz="2800" dirty="0">
              <a:latin typeface="Poppins"/>
            </a:endParaRPr>
          </a:p>
          <a:p>
            <a:pPr algn="ctr"/>
            <a:r>
              <a:rPr lang="en-US" sz="2800" dirty="0" err="1">
                <a:latin typeface="Poppins"/>
              </a:rPr>
              <a:t>Swahiba</a:t>
            </a:r>
            <a:r>
              <a:rPr lang="en-US" sz="2800" dirty="0">
                <a:latin typeface="Poppins"/>
              </a:rPr>
              <a:t> </a:t>
            </a:r>
            <a:r>
              <a:rPr lang="en-US" sz="2800" dirty="0" err="1">
                <a:latin typeface="Poppins"/>
              </a:rPr>
              <a:t>Nabisere</a:t>
            </a:r>
            <a:endParaRPr sz="2800" dirty="0">
              <a:latin typeface="Poppins"/>
            </a:endParaRPr>
          </a:p>
          <a:p>
            <a:pPr algn="ctr"/>
            <a:endParaRPr sz="2800" b="1" dirty="0">
              <a:latin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1143000" y="876240"/>
            <a:ext cx="10195920" cy="369000"/>
          </a:xfrm>
          <a:prstGeom prst="rect">
            <a:avLst/>
          </a:prstGeom>
          <a:noFill/>
          <a:ln w="0">
            <a:noFill/>
          </a:ln>
        </p:spPr>
        <p:txBody>
          <a:bodyPr lIns="0" tIns="0" rIns="0" bIns="0" anchor="t">
            <a:noAutofit/>
          </a:bodyPr>
          <a:lstStyle/>
          <a:p>
            <a:pPr indent="0" algn="l">
              <a:lnSpc>
                <a:spcPct val="100000"/>
              </a:lnSpc>
              <a:buNone/>
            </a:pPr>
            <a:r>
              <a:rPr sz="2400" b="1" dirty="0">
                <a:latin typeface="Poppins"/>
              </a:rPr>
              <a:t>2. Introduction</a:t>
            </a:r>
            <a:endParaRPr lang="en-US" sz="2400" b="0" u="none" strike="noStrike" dirty="0">
              <a:solidFill>
                <a:srgbClr val="000000"/>
              </a:solidFill>
              <a:effectLst/>
              <a:uFillTx/>
              <a:latin typeface="Calibri"/>
            </a:endParaRPr>
          </a:p>
        </p:txBody>
      </p:sp>
      <p:sp>
        <p:nvSpPr>
          <p:cNvPr id="34" name="TextBox 33"/>
          <p:cNvSpPr txBox="1"/>
          <p:nvPr/>
        </p:nvSpPr>
        <p:spPr>
          <a:xfrm>
            <a:off x="3629083" y="2771001"/>
            <a:ext cx="10195920" cy="5864298"/>
          </a:xfrm>
          <a:prstGeom prst="rect">
            <a:avLst/>
          </a:prstGeom>
          <a:noFill/>
        </p:spPr>
        <p:txBody>
          <a:bodyPr wrap="square">
            <a:spAutoFit/>
          </a:bodyPr>
          <a:lstStyle/>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Web-based Incident Reporting System (IRS) for Kiira Motors Corporation</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Digitizes incident reports from submission through verification to approval</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Built as a Django application with </a:t>
            </a:r>
            <a:r>
              <a:rPr sz="2300" dirty="0" err="1">
                <a:latin typeface="Poppins" panose="00000500000000000000" pitchFamily="2" charset="0"/>
                <a:cs typeface="Poppins" panose="00000500000000000000" pitchFamily="2" charset="0"/>
              </a:rPr>
              <a:t>Keycloak</a:t>
            </a:r>
            <a:r>
              <a:rPr sz="2300" dirty="0">
                <a:latin typeface="Poppins" panose="00000500000000000000" pitchFamily="2" charset="0"/>
                <a:cs typeface="Poppins" panose="00000500000000000000" pitchFamily="2" charset="0"/>
              </a:rPr>
              <a:t> single sign-on for plant employees</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Goal: one system usable plant-wide, with a clear audit trail and accountable sign-offs</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This presentation summarizes the problem, solution, challenges, progress,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990720" y="952560"/>
            <a:ext cx="10667520" cy="369000"/>
          </a:xfrm>
          <a:prstGeom prst="rect">
            <a:avLst/>
          </a:prstGeom>
          <a:noFill/>
          <a:ln w="0">
            <a:noFill/>
          </a:ln>
        </p:spPr>
        <p:txBody>
          <a:bodyPr lIns="0" tIns="0" rIns="0" bIns="0" anchor="t">
            <a:noAutofit/>
          </a:bodyPr>
          <a:lstStyle/>
          <a:p>
            <a:pPr indent="0" algn="l">
              <a:lnSpc>
                <a:spcPct val="100000"/>
              </a:lnSpc>
              <a:buNone/>
            </a:pPr>
            <a:r>
              <a:rPr sz="2400" b="1">
                <a:latin typeface="Poppins"/>
              </a:rPr>
              <a:t>3. The Problem</a:t>
            </a:r>
            <a:endParaRPr lang="en-US" sz="2400" b="0" u="none" strike="noStrike">
              <a:solidFill>
                <a:srgbClr val="000000"/>
              </a:solidFill>
              <a:effectLst/>
              <a:uFillTx/>
              <a:latin typeface="Calibri"/>
            </a:endParaRPr>
          </a:p>
        </p:txBody>
      </p:sp>
      <p:sp>
        <p:nvSpPr>
          <p:cNvPr id="35" name="TextBox 34"/>
          <p:cNvSpPr txBox="1"/>
          <p:nvPr/>
        </p:nvSpPr>
        <p:spPr>
          <a:xfrm>
            <a:off x="1066680" y="3828896"/>
            <a:ext cx="8077320" cy="3893117"/>
          </a:xfrm>
          <a:prstGeom prst="rect">
            <a:avLst/>
          </a:prstGeom>
          <a:noFill/>
        </p:spPr>
        <p:txBody>
          <a:bodyPr wrap="square">
            <a:spAutoFit/>
          </a:bodyPr>
          <a:lstStyle/>
          <a:p>
            <a:pPr marL="457200" indent="-457200" algn="l">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Incident reporting was manual, slow, and difficult to track across the plant</a:t>
            </a:r>
          </a:p>
          <a:p>
            <a:pPr marL="457200" indent="-457200" algn="l">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Limited visibility into open incidents, late submissions, and workflow bottlenecks</a:t>
            </a:r>
          </a:p>
          <a:p>
            <a:pPr marL="457200" indent="-457200" algn="l">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Hard to produce consistent closed reports with signatures and audit history</a:t>
            </a:r>
          </a:p>
        </p:txBody>
      </p:sp>
      <p:pic>
        <p:nvPicPr>
          <p:cNvPr id="3" name="Picture 2">
            <a:extLst>
              <a:ext uri="{FF2B5EF4-FFF2-40B4-BE49-F238E27FC236}">
                <a16:creationId xmlns:a16="http://schemas.microsoft.com/office/drawing/2014/main" id="{2ED35D7F-9372-77EA-2A3A-6830BD97509E}"/>
              </a:ext>
            </a:extLst>
          </p:cNvPr>
          <p:cNvPicPr>
            <a:picLocks noChangeAspect="1"/>
          </p:cNvPicPr>
          <p:nvPr/>
        </p:nvPicPr>
        <p:blipFill>
          <a:blip r:embed="rId3"/>
          <a:stretch>
            <a:fillRect/>
          </a:stretch>
        </p:blipFill>
        <p:spPr>
          <a:xfrm>
            <a:off x="10590029" y="2455971"/>
            <a:ext cx="5570302" cy="66389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990720" y="952560"/>
            <a:ext cx="10515240" cy="738360"/>
          </a:xfrm>
          <a:prstGeom prst="rect">
            <a:avLst/>
          </a:prstGeom>
          <a:noFill/>
          <a:ln w="0">
            <a:noFill/>
          </a:ln>
        </p:spPr>
        <p:txBody>
          <a:bodyPr lIns="0" tIns="0" rIns="0" bIns="0" anchor="t">
            <a:noAutofit/>
          </a:bodyPr>
          <a:lstStyle/>
          <a:p>
            <a:pPr indent="0" algn="l">
              <a:lnSpc>
                <a:spcPct val="100000"/>
              </a:lnSpc>
              <a:buNone/>
            </a:pPr>
            <a:r>
              <a:rPr sz="2400" b="1">
                <a:latin typeface="Poppins"/>
              </a:rPr>
              <a:t>4. The Solution</a:t>
            </a:r>
            <a:endParaRPr lang="en-US" sz="2400" b="0" u="none" strike="noStrike">
              <a:solidFill>
                <a:srgbClr val="000000"/>
              </a:solidFill>
              <a:effectLst/>
              <a:uFillTx/>
              <a:latin typeface="Calibri"/>
            </a:endParaRPr>
          </a:p>
        </p:txBody>
      </p:sp>
      <p:sp>
        <p:nvSpPr>
          <p:cNvPr id="36" name="TextBox 35"/>
          <p:cNvSpPr txBox="1"/>
          <p:nvPr/>
        </p:nvSpPr>
        <p:spPr>
          <a:xfrm>
            <a:off x="562703" y="2554892"/>
            <a:ext cx="8365931" cy="6779548"/>
          </a:xfrm>
          <a:prstGeom prst="rect">
            <a:avLst/>
          </a:prstGeom>
          <a:noFill/>
        </p:spPr>
        <p:txBody>
          <a:bodyPr wrap="square">
            <a:spAutoFit/>
          </a:bodyPr>
          <a:lstStyle/>
          <a:p>
            <a:pPr marL="457200" indent="-457200" algn="just">
              <a:lnSpc>
                <a:spcPct val="150000"/>
              </a:lnSpc>
              <a:spcAft>
                <a:spcPts val="1000"/>
              </a:spcAft>
              <a:buFont typeface="Arial" panose="020B0604020202020204" pitchFamily="34" charset="0"/>
              <a:buChar char="•"/>
            </a:pPr>
            <a:r>
              <a:rPr sz="2200" dirty="0">
                <a:latin typeface="Poppins" panose="00000500000000000000" pitchFamily="2" charset="0"/>
                <a:cs typeface="Poppins" panose="00000500000000000000" pitchFamily="2" charset="0"/>
              </a:rPr>
              <a:t>Django web app — works on desktop and mobile browsers</a:t>
            </a:r>
          </a:p>
          <a:p>
            <a:pPr marL="457200" indent="-457200" algn="just">
              <a:lnSpc>
                <a:spcPct val="150000"/>
              </a:lnSpc>
              <a:spcAft>
                <a:spcPts val="1000"/>
              </a:spcAft>
              <a:buFont typeface="Arial" panose="020B0604020202020204" pitchFamily="34" charset="0"/>
              <a:buChar char="•"/>
            </a:pPr>
            <a:r>
              <a:rPr sz="2200" dirty="0" err="1">
                <a:latin typeface="Poppins" panose="00000500000000000000" pitchFamily="2" charset="0"/>
                <a:cs typeface="Poppins" panose="00000500000000000000" pitchFamily="2" charset="0"/>
              </a:rPr>
              <a:t>Keycloak</a:t>
            </a:r>
            <a:r>
              <a:rPr sz="2200" dirty="0">
                <a:latin typeface="Poppins" panose="00000500000000000000" pitchFamily="2" charset="0"/>
                <a:cs typeface="Poppins" panose="00000500000000000000" pitchFamily="2" charset="0"/>
              </a:rPr>
              <a:t> login for all employees; roles synced automatically on sign-in</a:t>
            </a:r>
          </a:p>
          <a:p>
            <a:pPr marL="457200" indent="-457200" algn="just">
              <a:lnSpc>
                <a:spcPct val="150000"/>
              </a:lnSpc>
              <a:spcAft>
                <a:spcPts val="1000"/>
              </a:spcAft>
              <a:buFont typeface="Arial" panose="020B0604020202020204" pitchFamily="34" charset="0"/>
              <a:buChar char="•"/>
            </a:pPr>
            <a:r>
              <a:rPr sz="2200" dirty="0">
                <a:latin typeface="Poppins" panose="00000500000000000000" pitchFamily="2" charset="0"/>
                <a:cs typeface="Poppins" panose="00000500000000000000" pitchFamily="2" charset="0"/>
              </a:rPr>
              <a:t>Reporter types scene location and selects a verifier; verifier selects an approver</a:t>
            </a:r>
          </a:p>
          <a:p>
            <a:pPr marL="457200" indent="-457200" algn="just">
              <a:lnSpc>
                <a:spcPct val="150000"/>
              </a:lnSpc>
              <a:spcAft>
                <a:spcPts val="1000"/>
              </a:spcAft>
              <a:buFont typeface="Arial" panose="020B0604020202020204" pitchFamily="34" charset="0"/>
              <a:buChar char="•"/>
            </a:pPr>
            <a:r>
              <a:rPr sz="2200" dirty="0">
                <a:latin typeface="Poppins" panose="00000500000000000000" pitchFamily="2" charset="0"/>
                <a:cs typeface="Poppins" panose="00000500000000000000" pitchFamily="2" charset="0"/>
              </a:rPr>
              <a:t>Workflow: Draft → Pending verification → Pending approval → Closed</a:t>
            </a:r>
          </a:p>
          <a:p>
            <a:pPr marL="457200" indent="-457200" algn="just">
              <a:lnSpc>
                <a:spcPct val="150000"/>
              </a:lnSpc>
              <a:spcAft>
                <a:spcPts val="1000"/>
              </a:spcAft>
              <a:buFont typeface="Arial" panose="020B0604020202020204" pitchFamily="34" charset="0"/>
              <a:buChar char="•"/>
            </a:pPr>
            <a:r>
              <a:rPr sz="2200" dirty="0">
                <a:latin typeface="Poppins" panose="00000500000000000000" pitchFamily="2" charset="0"/>
                <a:cs typeface="Poppins" panose="00000500000000000000" pitchFamily="2" charset="0"/>
              </a:rPr>
              <a:t>Dashboard with filters, personal queue, email notifications, CSV export, and PDF reports</a:t>
            </a:r>
          </a:p>
          <a:p>
            <a:pPr marL="457200" indent="-457200" algn="just">
              <a:lnSpc>
                <a:spcPct val="150000"/>
              </a:lnSpc>
              <a:spcAft>
                <a:spcPts val="1000"/>
              </a:spcAft>
              <a:buFont typeface="Arial" panose="020B0604020202020204" pitchFamily="34" charset="0"/>
              <a:buChar char="•"/>
            </a:pPr>
            <a:r>
              <a:rPr sz="2200" dirty="0">
                <a:latin typeface="Poppins" panose="00000500000000000000" pitchFamily="2" charset="0"/>
                <a:cs typeface="Poppins" panose="00000500000000000000" pitchFamily="2" charset="0"/>
              </a:rPr>
              <a:t>Signatories captured at submit, verify, and approve (signature image or printed name)</a:t>
            </a:r>
          </a:p>
        </p:txBody>
      </p:sp>
      <p:pic>
        <p:nvPicPr>
          <p:cNvPr id="3" name="Picture 2">
            <a:extLst>
              <a:ext uri="{FF2B5EF4-FFF2-40B4-BE49-F238E27FC236}">
                <a16:creationId xmlns:a16="http://schemas.microsoft.com/office/drawing/2014/main" id="{F84E7EF8-CA12-7611-55BD-ECF485723702}"/>
              </a:ext>
            </a:extLst>
          </p:cNvPr>
          <p:cNvPicPr>
            <a:picLocks noChangeAspect="1"/>
          </p:cNvPicPr>
          <p:nvPr/>
        </p:nvPicPr>
        <p:blipFill>
          <a:blip r:embed="rId3"/>
          <a:stretch>
            <a:fillRect/>
          </a:stretch>
        </p:blipFill>
        <p:spPr>
          <a:xfrm>
            <a:off x="9735127" y="1944703"/>
            <a:ext cx="7389455" cy="3522698"/>
          </a:xfrm>
          <a:prstGeom prst="rect">
            <a:avLst/>
          </a:prstGeom>
        </p:spPr>
      </p:pic>
      <p:pic>
        <p:nvPicPr>
          <p:cNvPr id="5" name="Picture 4">
            <a:extLst>
              <a:ext uri="{FF2B5EF4-FFF2-40B4-BE49-F238E27FC236}">
                <a16:creationId xmlns:a16="http://schemas.microsoft.com/office/drawing/2014/main" id="{A6F5E7A8-F846-A4B2-EFC8-869D84CFC511}"/>
              </a:ext>
            </a:extLst>
          </p:cNvPr>
          <p:cNvPicPr>
            <a:picLocks noChangeAspect="1"/>
          </p:cNvPicPr>
          <p:nvPr/>
        </p:nvPicPr>
        <p:blipFill>
          <a:blip r:embed="rId4"/>
          <a:stretch>
            <a:fillRect/>
          </a:stretch>
        </p:blipFill>
        <p:spPr>
          <a:xfrm>
            <a:off x="9735127" y="6187244"/>
            <a:ext cx="7410625" cy="35226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990720" y="876240"/>
            <a:ext cx="10820160" cy="609120"/>
          </a:xfrm>
          <a:prstGeom prst="rect">
            <a:avLst/>
          </a:prstGeom>
          <a:noFill/>
          <a:ln w="0">
            <a:noFill/>
          </a:ln>
        </p:spPr>
        <p:txBody>
          <a:bodyPr lIns="0" tIns="0" rIns="0" bIns="0" anchor="t">
            <a:noAutofit/>
          </a:bodyPr>
          <a:lstStyle/>
          <a:p>
            <a:pPr indent="0" algn="l">
              <a:lnSpc>
                <a:spcPct val="100000"/>
              </a:lnSpc>
              <a:buNone/>
            </a:pPr>
            <a:r>
              <a:rPr sz="2400" b="1">
                <a:latin typeface="Poppins"/>
              </a:rPr>
              <a:t>5. The Challenges</a:t>
            </a:r>
            <a:endParaRPr lang="en-US" sz="2400" b="0" u="none" strike="noStrike">
              <a:solidFill>
                <a:srgbClr val="000000"/>
              </a:solidFill>
              <a:effectLst/>
              <a:uFillTx/>
              <a:latin typeface="Calibri"/>
            </a:endParaRPr>
          </a:p>
        </p:txBody>
      </p:sp>
      <p:sp>
        <p:nvSpPr>
          <p:cNvPr id="37" name="TextBox 36"/>
          <p:cNvSpPr txBox="1"/>
          <p:nvPr/>
        </p:nvSpPr>
        <p:spPr>
          <a:xfrm>
            <a:off x="2858431" y="3552285"/>
            <a:ext cx="11985978" cy="4015971"/>
          </a:xfrm>
          <a:prstGeom prst="rect">
            <a:avLst/>
          </a:prstGeom>
          <a:noFill/>
        </p:spPr>
        <p:txBody>
          <a:bodyPr wrap="square">
            <a:spAutoFit/>
          </a:bodyPr>
          <a:lstStyle/>
          <a:p>
            <a:pPr marL="285750" indent="-28575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Integrating </a:t>
            </a:r>
            <a:r>
              <a:rPr sz="2600" dirty="0" err="1">
                <a:latin typeface="Poppins" panose="00000500000000000000" pitchFamily="2" charset="0"/>
                <a:cs typeface="Poppins" panose="00000500000000000000" pitchFamily="2" charset="0"/>
              </a:rPr>
              <a:t>Keycloak</a:t>
            </a:r>
            <a:r>
              <a:rPr sz="2600" dirty="0">
                <a:latin typeface="Poppins" panose="00000500000000000000" pitchFamily="2" charset="0"/>
                <a:cs typeface="Poppins" panose="00000500000000000000" pitchFamily="2" charset="0"/>
              </a:rPr>
              <a:t> (realm, client, redirect URI, service account for search)</a:t>
            </a:r>
          </a:p>
          <a:p>
            <a:pPr marL="285750" indent="-28575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Replacing automatic routing with flexible employee search and manual sign-off selection</a:t>
            </a:r>
          </a:p>
          <a:p>
            <a:pPr marL="285750" indent="-28575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Server/client clock sync for JWT validation during login</a:t>
            </a:r>
          </a:p>
          <a:p>
            <a:pPr marL="285750" indent="-285750" algn="just">
              <a:lnSpc>
                <a:spcPct val="150000"/>
              </a:lnSpc>
              <a:spcAft>
                <a:spcPts val="1000"/>
              </a:spcAft>
              <a:buFont typeface="Arial" panose="020B0604020202020204" pitchFamily="34" charset="0"/>
              <a:buChar char="•"/>
            </a:pPr>
            <a:r>
              <a:rPr lang="en-US" sz="2600" dirty="0">
                <a:latin typeface="Poppins" panose="00000500000000000000" pitchFamily="2" charset="0"/>
                <a:cs typeface="Poppins" panose="00000500000000000000" pitchFamily="2" charset="0"/>
              </a:rPr>
              <a:t>Signature </a:t>
            </a:r>
            <a:r>
              <a:rPr sz="2600" dirty="0">
                <a:latin typeface="Poppins" panose="00000500000000000000" pitchFamily="2" charset="0"/>
                <a:cs typeface="Poppins" panose="00000500000000000000" pitchFamily="2" charset="0"/>
              </a:rPr>
              <a:t>hosting still to be </a:t>
            </a:r>
            <a:r>
              <a:rPr sz="2600" dirty="0" err="1">
                <a:latin typeface="Poppins" panose="00000500000000000000" pitchFamily="2" charset="0"/>
                <a:cs typeface="Poppins" panose="00000500000000000000" pitchFamily="2" charset="0"/>
              </a:rPr>
              <a:t>finalised</a:t>
            </a:r>
            <a:endParaRPr sz="2600" dirty="0">
              <a:latin typeface="Poppins" panose="00000500000000000000" pitchFamily="2" charset="0"/>
              <a:cs typeface="Poppins"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1285552" y="952560"/>
            <a:ext cx="11201040" cy="738360"/>
          </a:xfrm>
          <a:prstGeom prst="rect">
            <a:avLst/>
          </a:prstGeom>
          <a:noFill/>
          <a:ln w="0">
            <a:noFill/>
          </a:ln>
        </p:spPr>
        <p:txBody>
          <a:bodyPr lIns="0" tIns="0" rIns="0" bIns="0" anchor="t">
            <a:noAutofit/>
          </a:bodyPr>
          <a:lstStyle/>
          <a:p>
            <a:pPr indent="0" algn="l">
              <a:lnSpc>
                <a:spcPct val="100000"/>
              </a:lnSpc>
              <a:buNone/>
            </a:pPr>
            <a:r>
              <a:rPr sz="2400" b="1">
                <a:latin typeface="Poppins"/>
              </a:rPr>
              <a:t>6. The Progress</a:t>
            </a:r>
            <a:endParaRPr lang="en-US" sz="2400" b="0" u="none" strike="noStrike">
              <a:solidFill>
                <a:srgbClr val="000000"/>
              </a:solidFill>
              <a:effectLst/>
              <a:uFillTx/>
              <a:latin typeface="Calibri"/>
            </a:endParaRPr>
          </a:p>
        </p:txBody>
      </p:sp>
      <p:pic>
        <p:nvPicPr>
          <p:cNvPr id="3" name="Picture 2">
            <a:extLst>
              <a:ext uri="{FF2B5EF4-FFF2-40B4-BE49-F238E27FC236}">
                <a16:creationId xmlns:a16="http://schemas.microsoft.com/office/drawing/2014/main" id="{DE531DC4-E13B-8FC1-18A6-A8C4A4A61B0A}"/>
              </a:ext>
            </a:extLst>
          </p:cNvPr>
          <p:cNvPicPr>
            <a:picLocks noChangeAspect="1"/>
          </p:cNvPicPr>
          <p:nvPr/>
        </p:nvPicPr>
        <p:blipFill>
          <a:blip r:embed="rId3"/>
          <a:stretch>
            <a:fillRect/>
          </a:stretch>
        </p:blipFill>
        <p:spPr>
          <a:xfrm>
            <a:off x="10397371" y="3302048"/>
            <a:ext cx="5664491" cy="4864350"/>
          </a:xfrm>
          <a:prstGeom prst="rect">
            <a:avLst/>
          </a:prstGeom>
        </p:spPr>
      </p:pic>
      <p:sp>
        <p:nvSpPr>
          <p:cNvPr id="38" name="TextBox 37"/>
          <p:cNvSpPr txBox="1"/>
          <p:nvPr/>
        </p:nvSpPr>
        <p:spPr>
          <a:xfrm>
            <a:off x="410063" y="2916804"/>
            <a:ext cx="10515600" cy="5992538"/>
          </a:xfrm>
          <a:prstGeom prst="rect">
            <a:avLst/>
          </a:prstGeom>
          <a:noFill/>
        </p:spPr>
        <p:txBody>
          <a:bodyPr wrap="square">
            <a:spAutoFit/>
          </a:bodyPr>
          <a:lstStyle/>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End-to-end workflow implemented and tested locally with </a:t>
            </a:r>
            <a:r>
              <a:rPr sz="2300" dirty="0" err="1">
                <a:latin typeface="Poppins" panose="00000500000000000000" pitchFamily="2" charset="0"/>
                <a:cs typeface="Poppins" panose="00000500000000000000" pitchFamily="2" charset="0"/>
              </a:rPr>
              <a:t>Keycloak</a:t>
            </a:r>
            <a:r>
              <a:rPr sz="2300" dirty="0">
                <a:latin typeface="Poppins" panose="00000500000000000000" pitchFamily="2" charset="0"/>
                <a:cs typeface="Poppins" panose="00000500000000000000" pitchFamily="2" charset="0"/>
              </a:rPr>
              <a:t> SSO</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Free-text incident location, pagination, and updated signatories section on reports</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Employee search for verifier (at submit) and approver (at verify)</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Software Requirements Specification and Software Design Document prepared</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UI improvements: clearer forms, branded logos, role-based dashboard visibility</a:t>
            </a:r>
          </a:p>
          <a:p>
            <a:pPr marL="457200" indent="-457200" algn="just">
              <a:lnSpc>
                <a:spcPct val="150000"/>
              </a:lnSpc>
              <a:spcAft>
                <a:spcPts val="1000"/>
              </a:spcAft>
              <a:buFont typeface="Arial" panose="020B0604020202020204" pitchFamily="34" charset="0"/>
              <a:buChar char="•"/>
            </a:pPr>
            <a:r>
              <a:rPr sz="2300" dirty="0">
                <a:latin typeface="Poppins" panose="00000500000000000000" pitchFamily="2" charset="0"/>
                <a:cs typeface="Poppins" panose="00000500000000000000" pitchFamily="2" charset="0"/>
              </a:rPr>
              <a:t>Closed incidents export to PDF with official KMC branding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400" b="1">
                <a:latin typeface="Poppins"/>
              </a:rPr>
              <a:t>7. The Next Steps</a:t>
            </a:r>
          </a:p>
        </p:txBody>
      </p:sp>
      <p:pic>
        <p:nvPicPr>
          <p:cNvPr id="5" name="Picture 4">
            <a:extLst>
              <a:ext uri="{FF2B5EF4-FFF2-40B4-BE49-F238E27FC236}">
                <a16:creationId xmlns:a16="http://schemas.microsoft.com/office/drawing/2014/main" id="{6BF0BE0C-E05E-2263-94AE-4B33C47C5526}"/>
              </a:ext>
            </a:extLst>
          </p:cNvPr>
          <p:cNvPicPr>
            <a:picLocks noChangeAspect="1"/>
          </p:cNvPicPr>
          <p:nvPr/>
        </p:nvPicPr>
        <p:blipFill>
          <a:blip r:embed="rId3"/>
          <a:stretch>
            <a:fillRect/>
          </a:stretch>
        </p:blipFill>
        <p:spPr>
          <a:xfrm>
            <a:off x="635194" y="2674960"/>
            <a:ext cx="5683542" cy="5715294"/>
          </a:xfrm>
          <a:prstGeom prst="rect">
            <a:avLst/>
          </a:prstGeom>
        </p:spPr>
      </p:pic>
      <p:sp>
        <p:nvSpPr>
          <p:cNvPr id="4" name="TextBox 3"/>
          <p:cNvSpPr txBox="1"/>
          <p:nvPr/>
        </p:nvSpPr>
        <p:spPr>
          <a:xfrm>
            <a:off x="6711466" y="2193359"/>
            <a:ext cx="10515600" cy="6678495"/>
          </a:xfrm>
          <a:prstGeom prst="rect">
            <a:avLst/>
          </a:prstGeom>
          <a:noFill/>
        </p:spPr>
        <p:txBody>
          <a:bodyPr wrap="square">
            <a:spAutoFit/>
          </a:bodyPr>
          <a:lstStyle/>
          <a:p>
            <a:pPr marL="457200" indent="-457200" algn="just">
              <a:lnSpc>
                <a:spcPct val="150000"/>
              </a:lnSpc>
              <a:spcAft>
                <a:spcPts val="1000"/>
              </a:spcAft>
              <a:buFont typeface="Arial" panose="020B0604020202020204" pitchFamily="34" charset="0"/>
              <a:buChar char="•"/>
            </a:pPr>
            <a:r>
              <a:rPr lang="en-US" sz="2600" dirty="0">
                <a:latin typeface="Poppins" panose="00000500000000000000" pitchFamily="2" charset="0"/>
                <a:cs typeface="Poppins" panose="00000500000000000000" pitchFamily="2" charset="0"/>
              </a:rPr>
              <a:t>Updating the UI of the System</a:t>
            </a:r>
          </a:p>
          <a:p>
            <a:pPr marL="457200" indent="-45720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Configure signature file storage (SIGNATURE_BASE_URL)</a:t>
            </a:r>
          </a:p>
          <a:p>
            <a:pPr marL="457200" indent="-45720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Production deployment: PostgreSQL, HTTPS, and application server setup</a:t>
            </a:r>
          </a:p>
          <a:p>
            <a:pPr marL="457200" indent="-45720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User acceptance testing with supervisors and representative plant users</a:t>
            </a:r>
          </a:p>
          <a:p>
            <a:pPr marL="457200" indent="-45720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Short user guide and handover to Information Systems / support team</a:t>
            </a:r>
          </a:p>
          <a:p>
            <a:pPr marL="457200" indent="-457200" algn="just">
              <a:lnSpc>
                <a:spcPct val="150000"/>
              </a:lnSpc>
              <a:spcAft>
                <a:spcPts val="1000"/>
              </a:spcAft>
              <a:buFont typeface="Arial" panose="020B0604020202020204" pitchFamily="34" charset="0"/>
              <a:buChar char="•"/>
            </a:pPr>
            <a:r>
              <a:rPr sz="2600" dirty="0">
                <a:latin typeface="Poppins" panose="00000500000000000000" pitchFamily="2" charset="0"/>
                <a:cs typeface="Poppins" panose="00000500000000000000" pitchFamily="2" charset="0"/>
              </a:rPr>
              <a:t>Monitor feedback and prioritize analytics enhancements for Admin and CEO roles</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3317</TotalTime>
  <Words>976</Words>
  <Application>Microsoft Office PowerPoint</Application>
  <PresentationFormat>Custom</PresentationFormat>
  <Paragraphs>76</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Poppins</vt:lpstr>
      <vt:lpstr>Symbol</vt:lpstr>
      <vt:lpstr>Times New Roman</vt:lpstr>
      <vt:lpstr>Wingdings</vt:lpstr>
      <vt:lpstr>Office Theme</vt:lpstr>
      <vt:lpstr>PowerPoint Presentation</vt:lpstr>
      <vt:lpstr>2. Introduction</vt:lpstr>
      <vt:lpstr>3. The Problem</vt:lpstr>
      <vt:lpstr>4. The Solution</vt:lpstr>
      <vt:lpstr>5. The Challenges</vt:lpstr>
      <vt:lpstr>6. The Progress</vt:lpstr>
      <vt:lpstr>7. The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Geometric Classy Work Performance Report Presentation</dc:title>
  <dc:subject/>
  <dc:creator>Emma Jagen</dc:creator>
  <cp:keywords>DAG0u6HSV2w BAEftIkv5ns 0</cp:keywords>
  <dc:description/>
  <cp:lastModifiedBy>Aryampa Joshua</cp:lastModifiedBy>
  <cp:revision>225</cp:revision>
  <dcterms:created xsi:type="dcterms:W3CDTF">2025-10-03T15:52:08Z</dcterms:created>
  <dcterms:modified xsi:type="dcterms:W3CDTF">2026-07-02T12:11:17Z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2025-10-03T00:00:00Z</vt:filetime>
  </property>
  <property fmtid="{D5CDD505-2E9C-101B-9397-08002B2CF9AE}" pid="3" name="Creator">
    <vt:lpwstr>Canva</vt:lpwstr>
  </property>
  <property fmtid="{D5CDD505-2E9C-101B-9397-08002B2CF9AE}" pid="4" name="LastSaved">
    <vt:filetime>2025-10-03T00:00:00Z</vt:filetime>
  </property>
  <property fmtid="{D5CDD505-2E9C-101B-9397-08002B2CF9AE}" pid="5" name="PresentationFormat">
    <vt:lpwstr>Custom</vt:lpwstr>
  </property>
  <property fmtid="{D5CDD505-2E9C-101B-9397-08002B2CF9AE}" pid="6" name="Producer">
    <vt:lpwstr>Canva</vt:lpwstr>
  </property>
  <property fmtid="{D5CDD505-2E9C-101B-9397-08002B2CF9AE}" pid="7" name="Slides">
    <vt:i4>6</vt:i4>
  </property>
</Properties>
</file>